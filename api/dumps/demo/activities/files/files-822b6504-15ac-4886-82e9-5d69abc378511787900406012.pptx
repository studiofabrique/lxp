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ubik Medium"/>
      <p:regular r:id="rId12"/>
      <p:bold r:id="rId13"/>
      <p:italic r:id="rId14"/>
      <p:boldItalic r:id="rId15"/>
    </p:embeddedFont>
    <p:embeddedFont>
      <p:font typeface="Rubik Light"/>
      <p:regular r:id="rId16"/>
      <p:bold r:id="rId17"/>
      <p:italic r:id="rId18"/>
      <p:boldItalic r:id="rId19"/>
    </p:embeddedFont>
    <p:embeddedFont>
      <p:font typeface="Rubik ExtraBold"/>
      <p:bold r:id="rId20"/>
      <p:boldItalic r:id="rId21"/>
    </p:embeddedFont>
    <p:embeddedFont>
      <p:font typeface="Rubik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C2CC2A-1D0D-432A-B440-299F7A201D6E}">
  <a:tblStyle styleId="{3EC2CC2A-1D0D-432A-B440-299F7A201D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ExtraBold-bold.fntdata"/><Relationship Id="rId22" Type="http://schemas.openxmlformats.org/officeDocument/2006/relationships/font" Target="fonts/Rubik-regular.fntdata"/><Relationship Id="rId21" Type="http://schemas.openxmlformats.org/officeDocument/2006/relationships/font" Target="fonts/RubikExtraBold-boldItalic.fntdata"/><Relationship Id="rId24" Type="http://schemas.openxmlformats.org/officeDocument/2006/relationships/font" Target="fonts/Rubik-italic.fntdata"/><Relationship Id="rId23" Type="http://schemas.openxmlformats.org/officeDocument/2006/relationships/font" Target="fonts/Rubi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Rubik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ubikMedium-bold.fntdata"/><Relationship Id="rId12" Type="http://schemas.openxmlformats.org/officeDocument/2006/relationships/font" Target="fonts/RubikMedium-regular.fntdata"/><Relationship Id="rId15" Type="http://schemas.openxmlformats.org/officeDocument/2006/relationships/font" Target="fonts/RubikMedium-boldItalic.fntdata"/><Relationship Id="rId14" Type="http://schemas.openxmlformats.org/officeDocument/2006/relationships/font" Target="fonts/RubikMedium-italic.fntdata"/><Relationship Id="rId17" Type="http://schemas.openxmlformats.org/officeDocument/2006/relationships/font" Target="fonts/RubikLight-bold.fntdata"/><Relationship Id="rId16" Type="http://schemas.openxmlformats.org/officeDocument/2006/relationships/font" Target="fonts/RubikLight-regular.fntdata"/><Relationship Id="rId19" Type="http://schemas.openxmlformats.org/officeDocument/2006/relationships/font" Target="fonts/RubikLight-boldItalic.fntdata"/><Relationship Id="rId18" Type="http://schemas.openxmlformats.org/officeDocument/2006/relationships/font" Target="fonts/Rubik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bf6183de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bf6183d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bf6183de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bf6183d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bf6183de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bf6183de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bf6183de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bf6183de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314325"/>
            <a:ext cx="8439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ubik ExtraBold"/>
                <a:ea typeface="Rubik ExtraBold"/>
                <a:cs typeface="Rubik ExtraBold"/>
                <a:sym typeface="Rubik ExtraBold"/>
              </a:rPr>
              <a:t>Tableau de tarifs des </a:t>
            </a:r>
            <a:r>
              <a:rPr lang="en" sz="1800">
                <a:latin typeface="Rubik ExtraBold"/>
                <a:ea typeface="Rubik ExtraBold"/>
                <a:cs typeface="Rubik ExtraBold"/>
                <a:sym typeface="Rubik ExtraBold"/>
              </a:rPr>
              <a:t>prestations</a:t>
            </a:r>
            <a:r>
              <a:rPr lang="en" sz="1800">
                <a:latin typeface="Rubik ExtraBold"/>
                <a:ea typeface="Rubik ExtraBold"/>
                <a:cs typeface="Rubik ExtraBold"/>
                <a:sym typeface="Rubik ExtraBold"/>
              </a:rPr>
              <a:t> de Newsletters</a:t>
            </a:r>
            <a:endParaRPr sz="1800">
              <a:latin typeface="Rubik ExtraBold"/>
              <a:ea typeface="Rubik ExtraBold"/>
              <a:cs typeface="Rubik ExtraBold"/>
              <a:sym typeface="Rubik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ubik"/>
                <a:ea typeface="Rubik"/>
                <a:cs typeface="Rubik"/>
                <a:sym typeface="Rubik"/>
              </a:rPr>
              <a:t>(Tarifs à titre indicatif)</a:t>
            </a:r>
            <a:endParaRPr i="1">
              <a:latin typeface="Rubik"/>
              <a:ea typeface="Rubik"/>
              <a:cs typeface="Rubik"/>
              <a:sym typeface="Rubik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{3EC2CC2A-1D0D-432A-B440-299F7A201D6E}</a:tableStyleId>
              </a:tblPr>
              <a:tblGrid>
                <a:gridCol w="4981575"/>
                <a:gridCol w="2257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ubik Medium"/>
                          <a:ea typeface="Rubik Medium"/>
                          <a:cs typeface="Rubik Medium"/>
                          <a:sym typeface="Rubik Medium"/>
                        </a:rPr>
                        <a:t>Composantes de la prestation</a:t>
                      </a:r>
                      <a:endParaRPr>
                        <a:latin typeface="Rubik Medium"/>
                        <a:ea typeface="Rubik Medium"/>
                        <a:cs typeface="Rubik Medium"/>
                        <a:sym typeface="Rubik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ubik Medium"/>
                          <a:ea typeface="Rubik Medium"/>
                          <a:cs typeface="Rubik Medium"/>
                          <a:sym typeface="Rubik Medium"/>
                        </a:rPr>
                        <a:t>Coût (à titre indicatif)</a:t>
                      </a:r>
                      <a:endParaRPr>
                        <a:latin typeface="Rubik Medium"/>
                        <a:ea typeface="Rubik Medium"/>
                        <a:cs typeface="Rubik Medium"/>
                        <a:sym typeface="Rubik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ubik Light"/>
                          <a:ea typeface="Rubik Light"/>
                          <a:cs typeface="Rubik Light"/>
                          <a:sym typeface="Rubik Light"/>
                        </a:rPr>
                        <a:t>Rédaction de newsletters</a:t>
                      </a:r>
                      <a:endParaRPr sz="1100">
                        <a:latin typeface="Rubik Light"/>
                        <a:ea typeface="Rubik Light"/>
                        <a:cs typeface="Rubik Light"/>
                        <a:sym typeface="Rubik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ubik"/>
                          <a:ea typeface="Rubik"/>
                          <a:cs typeface="Rubik"/>
                          <a:sym typeface="Rubik"/>
                        </a:rPr>
                        <a:t>1 100 € – 3 000 €</a:t>
                      </a:r>
                      <a:endParaRPr b="1"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ubik Light"/>
                          <a:ea typeface="Rubik Light"/>
                          <a:cs typeface="Rubik Light"/>
                          <a:sym typeface="Rubik Light"/>
                        </a:rPr>
                        <a:t>Configuration du compte, Importation des contacts</a:t>
                      </a:r>
                      <a:endParaRPr sz="1100">
                        <a:latin typeface="Rubik Light"/>
                        <a:ea typeface="Rubik Light"/>
                        <a:cs typeface="Rubik Light"/>
                        <a:sym typeface="Rubik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ubik"/>
                          <a:ea typeface="Rubik"/>
                          <a:cs typeface="Rubik"/>
                          <a:sym typeface="Rubik"/>
                        </a:rPr>
                        <a:t>550 € – 1200 €</a:t>
                      </a:r>
                      <a:endParaRPr b="1"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ubik Light"/>
                          <a:ea typeface="Rubik Light"/>
                          <a:cs typeface="Rubik Light"/>
                          <a:sym typeface="Rubik Light"/>
                        </a:rPr>
                        <a:t>Création d’un modèle de newsletters	</a:t>
                      </a:r>
                      <a:endParaRPr sz="1100">
                        <a:latin typeface="Rubik Light"/>
                        <a:ea typeface="Rubik Light"/>
                        <a:cs typeface="Rubik Light"/>
                        <a:sym typeface="Rubik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ubik"/>
                          <a:ea typeface="Rubik"/>
                          <a:cs typeface="Rubik"/>
                          <a:sym typeface="Rubik"/>
                        </a:rPr>
                        <a:t>200 € – 1 000 €</a:t>
                      </a:r>
                      <a:endParaRPr b="1"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ubik Light"/>
                          <a:ea typeface="Rubik Light"/>
                          <a:cs typeface="Rubik Light"/>
                          <a:sym typeface="Rubik Light"/>
                        </a:rPr>
                        <a:t>Prix par campagne (nettoyage de la base de contacts, mise à jour du template, reporting)</a:t>
                      </a:r>
                      <a:endParaRPr sz="1100">
                        <a:latin typeface="Rubik Light"/>
                        <a:ea typeface="Rubik Light"/>
                        <a:cs typeface="Rubik Light"/>
                        <a:sym typeface="Rubik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ubik"/>
                          <a:ea typeface="Rubik"/>
                          <a:cs typeface="Rubik"/>
                          <a:sym typeface="Rubik"/>
                        </a:rPr>
                        <a:t>200 € – 1 000 €</a:t>
                      </a:r>
                      <a:endParaRPr b="1"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320450"/>
            <a:ext cx="6315074" cy="4502600"/>
          </a:xfrm>
          <a:prstGeom prst="rect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" name="Google Shape;61;p14"/>
          <p:cNvSpPr txBox="1"/>
          <p:nvPr/>
        </p:nvSpPr>
        <p:spPr>
          <a:xfrm>
            <a:off x="514350" y="4232650"/>
            <a:ext cx="1181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Brevo</a:t>
            </a:r>
            <a:endParaRPr sz="2600">
              <a:solidFill>
                <a:schemeClr val="lt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600" y="471488"/>
            <a:ext cx="6887924" cy="420052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15"/>
          <p:cNvSpPr txBox="1"/>
          <p:nvPr/>
        </p:nvSpPr>
        <p:spPr>
          <a:xfrm>
            <a:off x="180975" y="4162425"/>
            <a:ext cx="14670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Rubik ExtraBold"/>
                <a:ea typeface="Rubik ExtraBold"/>
                <a:cs typeface="Rubik ExtraBold"/>
                <a:sym typeface="Rubik ExtraBold"/>
              </a:rPr>
              <a:t>Beehiiv</a:t>
            </a:r>
            <a:endParaRPr sz="2600"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4EA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95275" y="4171950"/>
            <a:ext cx="1781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Visme</a:t>
            </a:r>
            <a:endParaRPr sz="2600">
              <a:solidFill>
                <a:schemeClr val="lt1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175" y="295275"/>
            <a:ext cx="6458025" cy="4680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C36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275" y="219163"/>
            <a:ext cx="6002600" cy="4705175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7"/>
          <p:cNvSpPr txBox="1"/>
          <p:nvPr/>
        </p:nvSpPr>
        <p:spPr>
          <a:xfrm>
            <a:off x="295275" y="4171950"/>
            <a:ext cx="20859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Rubik ExtraBold"/>
                <a:ea typeface="Rubik ExtraBold"/>
                <a:cs typeface="Rubik ExtraBold"/>
                <a:sym typeface="Rubik ExtraBold"/>
              </a:rPr>
              <a:t>MailChimp</a:t>
            </a:r>
            <a:endParaRPr sz="2600"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